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45" r:id="rId2"/>
    <p:sldId id="350" r:id="rId3"/>
    <p:sldId id="316" r:id="rId4"/>
    <p:sldId id="260" r:id="rId5"/>
    <p:sldId id="349" r:id="rId6"/>
    <p:sldId id="346" r:id="rId7"/>
    <p:sldId id="348" r:id="rId8"/>
    <p:sldId id="343" r:id="rId9"/>
    <p:sldId id="351" r:id="rId10"/>
    <p:sldId id="352" r:id="rId11"/>
    <p:sldId id="354" r:id="rId12"/>
    <p:sldId id="357" r:id="rId13"/>
    <p:sldId id="359" r:id="rId14"/>
    <p:sldId id="360" r:id="rId15"/>
    <p:sldId id="361" r:id="rId16"/>
    <p:sldId id="362" r:id="rId17"/>
    <p:sldId id="363" r:id="rId18"/>
    <p:sldId id="364" r:id="rId19"/>
    <p:sldId id="353" r:id="rId20"/>
    <p:sldId id="355" r:id="rId21"/>
    <p:sldId id="356" r:id="rId22"/>
    <p:sldId id="344" r:id="rId23"/>
    <p:sldId id="283" r:id="rId24"/>
    <p:sldId id="280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467" autoAdjust="0"/>
  </p:normalViewPr>
  <p:slideViewPr>
    <p:cSldViewPr>
      <p:cViewPr>
        <p:scale>
          <a:sx n="67" d="100"/>
          <a:sy n="67" d="100"/>
        </p:scale>
        <p:origin x="12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C64010-C4D2-4E28-B509-E10F395DE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298E7-F24B-421D-B31C-5C5810756A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1FB849D-E70B-4048-879E-B71576DE17A9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C52E4B-9835-43B7-BCEE-0DFEA1448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661B9A-C92D-47C3-9409-832F30449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09829-D3B6-4B41-978A-1CCFCA5271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A346B-CB1D-4522-A80F-D40DAC213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17991FB-AF42-4E29-A85E-48EF3D544D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A45E4-610F-497E-8D09-4DB05374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FC1D0-19BB-40B4-8EEF-108EE903D464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C4DCF-C0BF-4AFE-BB9B-E5BAFE45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AB7AF-B16C-41EE-8239-35446C5F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C78F3-1F66-4539-B705-69C9B1CB1ED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62201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1F38E-8B5F-4F8F-B192-B0D40462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81418-F202-475D-8C66-0968068C28E0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4C098-B54C-41DB-8611-DB17B5F1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73AC0-EC6C-49F7-BEA5-AF73AC18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281A2-6190-4F79-BFD7-C6B8ED0E65A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643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3AC92-CE1F-44A7-BD94-23E97F8C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38144-8693-4D8A-8163-C214D2CB194C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D1B2D-2357-475E-8CD1-C597F797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6E328-7E93-432C-B9A8-04348F83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AA87A-8D6B-4CCA-B0C6-56AFAFE290A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63060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57FA5A-DA08-4C70-B6C2-A741D224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8065E-D574-4100-819A-7746470E48C4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DE68B9-7C94-4271-8D17-D1D9DCEE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CECE56-2A66-466A-911D-E3DCD58B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D4C2B-39A6-444D-AE3F-C0434133F23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51583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B03DCA8-3BC6-45CC-9567-47A91F14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1BC5E-D51E-401F-812F-A44F61A0DDA0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A1D0499-F89C-41F0-A0F4-01F44A61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47DA0-29D0-4B64-8A15-9B45F9F1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E4D3E-03E0-475E-BDAF-B0887C27857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85682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88482D0-1896-467C-93A8-6B3D3737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8157C-74CF-480F-B0A9-CCAB12A019EF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8563CC-CDB5-4F05-A295-9D84E30E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8989F6-301B-44F8-9D37-81EB3653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A2BB7-C2E1-430E-90AC-0490EDE5551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12434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B740602-3EAC-4ED9-8556-B90DA2CD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38975-FC4A-413D-BEE6-27E7C64173A1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128C39-9DEA-41E2-B2E1-4DB79769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0C40DB4-A377-4A01-862B-D6FD29BA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8D2EB-D19F-4D0C-8D56-129C25565FB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6426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7C8AD3-25BC-49F1-91D5-F76AAC05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94793-C1E1-4645-B7EE-0A5EBED28A97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8C01C5-CB0A-425A-840D-32522E81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6374D1-9500-454F-8CA8-DFC4633F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82D21-BA2C-403F-8AF9-EA0F0A68ACD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0855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07A980-3993-4B8D-B4CA-B08C8B52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40BE4-C15E-4175-8BEA-122C91E10640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42B894-B76D-4807-B59C-A037F58B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24C35D-38C0-4179-B859-6C905C3B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F5415-1CD7-461D-9FD3-7FB3CDFDC0C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3465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F2A87-E08D-4013-9A33-E70BC0E9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A6C75-7DDC-4FE2-B1B0-E45FF3671883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E07D-FBC9-4907-9DE2-4F1EE1DA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341FE-83D8-4B59-B724-F458ACB7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906FD-D5CD-4EE5-9BAF-F5C92D6F831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08111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CBCFD-0367-4774-85BB-EA20830B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8FE95-DE45-4E78-9E99-C44012888641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54D2-414A-415D-837B-AB30D5A2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BBB40-9FBC-4239-8D65-00062C8C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DB5F5D-DFD6-49A5-A3FF-C6369DA72DF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9344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9AA5F7C-45C5-4F05-9DAA-D79ED8605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FA86A0C-0DEB-4F80-B3A8-0DAECD713C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863AF-B55F-4EB0-AD7C-4AAB11169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F1DE67B-2F30-403C-AEFE-791CDBF5402C}" type="datetime1">
              <a:rPr lang="en-IN"/>
              <a:pPr>
                <a:defRPr/>
              </a:pPr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FF20E-33E3-496D-A0A8-D3CB2C9F8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F6389-8E6F-448A-9BAD-56A6C7BA4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146042A-EDB6-45F5-B227-B5CC269F954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578E4065-A324-4AEA-BF10-9ACB87A6F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38" y="214313"/>
            <a:ext cx="8785225" cy="357187"/>
          </a:xfrm>
        </p:spPr>
        <p:txBody>
          <a:bodyPr/>
          <a:lstStyle/>
          <a:p>
            <a:pPr eaLnBrk="1" hangingPunct="1"/>
            <a:r>
              <a:rPr lang="en-IN" altLang="en-US" sz="1800" b="1" dirty="0">
                <a:latin typeface="Tahoma" panose="020B0604030504040204" pitchFamily="34" charset="0"/>
                <a:cs typeface="Tahoma" panose="020B0604030504040204" pitchFamily="34" charset="0"/>
              </a:rPr>
              <a:t>Final year Capstone Project– 3</a:t>
            </a:r>
            <a:r>
              <a:rPr lang="en-IN" altLang="en-US" sz="1800" b="1" baseline="30000" dirty="0">
                <a:latin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IN" altLang="en-US" sz="1800" b="1" dirty="0">
                <a:latin typeface="Tahoma" panose="020B0604030504040204" pitchFamily="34" charset="0"/>
                <a:cs typeface="Tahoma" panose="020B0604030504040204" pitchFamily="34" charset="0"/>
              </a:rPr>
              <a:t> Review</a:t>
            </a:r>
          </a:p>
        </p:txBody>
      </p:sp>
      <p:sp>
        <p:nvSpPr>
          <p:cNvPr id="3075" name="Slide Number Placeholder 3">
            <a:extLst>
              <a:ext uri="{FF2B5EF4-FFF2-40B4-BE49-F238E27FC236}">
                <a16:creationId xmlns:a16="http://schemas.microsoft.com/office/drawing/2014/main" id="{24F3BB2C-2B9A-41BB-9DC5-1B192D24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4D7409-D567-41A2-954E-B73849D679C3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701576-2F9F-4986-A7C2-68CD6BEB98DF}"/>
              </a:ext>
            </a:extLst>
          </p:cNvPr>
          <p:cNvSpPr txBox="1">
            <a:spLocks/>
          </p:cNvSpPr>
          <p:nvPr/>
        </p:nvSpPr>
        <p:spPr bwMode="auto">
          <a:xfrm>
            <a:off x="285750" y="642938"/>
            <a:ext cx="8643938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Real-Time Object Detection in Autonomous Vehicles Using YOLOv5</a:t>
            </a:r>
            <a:endParaRPr lang="en-IN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EE3373-4040-4746-A5DF-1FF914363386}"/>
              </a:ext>
            </a:extLst>
          </p:cNvPr>
          <p:cNvSpPr txBox="1">
            <a:spLocks/>
          </p:cNvSpPr>
          <p:nvPr/>
        </p:nvSpPr>
        <p:spPr bwMode="auto">
          <a:xfrm>
            <a:off x="144463" y="5000625"/>
            <a:ext cx="8785225" cy="164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IN" sz="1600" b="1" dirty="0">
                <a:latin typeface="Tahoma" pitchFamily="34" charset="0"/>
                <a:ea typeface="+mj-ea"/>
                <a:cs typeface="Tahoma" pitchFamily="34" charset="0"/>
              </a:rPr>
              <a:t>Under the supervision of </a:t>
            </a:r>
          </a:p>
          <a:p>
            <a:pPr algn="ctr" eaLnBrk="1" hangingPunct="1">
              <a:defRPr/>
            </a:pPr>
            <a:endParaRPr lang="en-IN" sz="1000" dirty="0">
              <a:solidFill>
                <a:schemeClr val="accent6">
                  <a:lumMod val="75000"/>
                </a:schemeClr>
              </a:solidFill>
              <a:latin typeface="Tahoma" pitchFamily="34" charset="0"/>
              <a:ea typeface="+mj-ea"/>
              <a:cs typeface="Tahoma" pitchFamily="34" charset="0"/>
            </a:endParaRPr>
          </a:p>
          <a:p>
            <a:pPr algn="ctr" eaLnBrk="1" hangingPunct="1">
              <a:defRPr/>
            </a:pPr>
            <a:r>
              <a:rPr lang="en-IN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Mrs. </a:t>
            </a:r>
            <a:r>
              <a:rPr lang="en-IN" b="1" dirty="0" err="1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Pallabi</a:t>
            </a:r>
            <a:r>
              <a:rPr lang="en-IN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 </a:t>
            </a:r>
            <a:r>
              <a:rPr lang="en-IN" b="1" dirty="0" err="1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Kakati</a:t>
            </a:r>
            <a:br>
              <a:rPr lang="en-IN" sz="2000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</a:br>
            <a:r>
              <a:rPr lang="en-IN" sz="1400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Assistant</a:t>
            </a:r>
            <a:r>
              <a:rPr lang="en-IN" sz="1200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 </a:t>
            </a:r>
            <a:r>
              <a:rPr lang="en-IN" sz="1400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Professor</a:t>
            </a:r>
            <a:br>
              <a:rPr lang="en-IN" sz="1200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</a:br>
            <a:r>
              <a:rPr lang="en-US" sz="1600" b="1" dirty="0">
                <a:solidFill>
                  <a:srgbClr val="C00000"/>
                </a:solidFill>
                <a:latin typeface="Tahoma" pitchFamily="34" charset="0"/>
                <a:ea typeface="+mj-ea"/>
                <a:cs typeface="Tahoma" pitchFamily="34" charset="0"/>
              </a:rPr>
              <a:t>Department of Electronics and Communication  Engineering</a:t>
            </a:r>
            <a:br>
              <a:rPr lang="en-US" sz="1600" b="1" dirty="0">
                <a:latin typeface="Tahoma" pitchFamily="34" charset="0"/>
                <a:ea typeface="+mj-ea"/>
                <a:cs typeface="Tahoma" pitchFamily="34" charset="0"/>
              </a:rPr>
            </a:br>
            <a:br>
              <a:rPr lang="en-US" sz="1100" b="1" dirty="0">
                <a:solidFill>
                  <a:srgbClr val="FF0000"/>
                </a:solidFill>
                <a:latin typeface="Tahoma" pitchFamily="34" charset="0"/>
                <a:ea typeface="+mj-ea"/>
                <a:cs typeface="Tahoma" pitchFamily="34" charset="0"/>
              </a:rPr>
            </a:br>
            <a:r>
              <a:rPr lang="en-US" sz="1400" b="1" dirty="0">
                <a:solidFill>
                  <a:srgbClr val="FF0000"/>
                </a:solidFill>
                <a:latin typeface="Tahoma" pitchFamily="34" charset="0"/>
                <a:ea typeface="+mj-ea"/>
                <a:cs typeface="Tahoma" pitchFamily="34" charset="0"/>
              </a:rPr>
              <a:t>November</a:t>
            </a:r>
            <a:r>
              <a:rPr lang="en-US" sz="1400" b="1" dirty="0">
                <a:latin typeface="Tahoma" pitchFamily="34" charset="0"/>
                <a:ea typeface="+mj-ea"/>
                <a:cs typeface="Tahoma" pitchFamily="34" charset="0"/>
              </a:rPr>
              <a:t>, 2024</a:t>
            </a:r>
            <a:endParaRPr lang="en-IN" sz="2400" b="1" dirty="0">
              <a:latin typeface="Tahoma" pitchFamily="34" charset="0"/>
              <a:ea typeface="+mj-ea"/>
              <a:cs typeface="Tahoma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57917E-B2DB-445F-86A5-DD0212F0C3DF}"/>
              </a:ext>
            </a:extLst>
          </p:cNvPr>
          <p:cNvSpPr/>
          <p:nvPr/>
        </p:nvSpPr>
        <p:spPr>
          <a:xfrm>
            <a:off x="8358188" y="6357938"/>
            <a:ext cx="357187" cy="500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B174312-27EF-4688-BD96-85A726891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96313"/>
              </p:ext>
            </p:extLst>
          </p:nvPr>
        </p:nvGraphicFramePr>
        <p:xfrm>
          <a:off x="827088" y="3065463"/>
          <a:ext cx="6410325" cy="100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9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01. Manu </a:t>
                      </a:r>
                      <a:r>
                        <a:rPr lang="en-IN" sz="1600" b="1" dirty="0" err="1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kiran</a:t>
                      </a:r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S</a:t>
                      </a: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b="1" dirty="0">
                        <a:solidFill>
                          <a:srgbClr val="7030A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 No.:</a:t>
                      </a:r>
                      <a:r>
                        <a:rPr lang="en-IN" sz="1600" b="1" baseline="0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20211ECE0284</a:t>
                      </a:r>
                      <a:endParaRPr lang="en-IN" sz="1600" b="1" dirty="0">
                        <a:solidFill>
                          <a:srgbClr val="7030A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02. Nishanth T G </a:t>
                      </a: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b="1" dirty="0">
                        <a:solidFill>
                          <a:srgbClr val="7030A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 No :</a:t>
                      </a:r>
                      <a:r>
                        <a:rPr lang="en-IN" sz="1600" b="1" baseline="0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20211ECE0265</a:t>
                      </a: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03. </a:t>
                      </a:r>
                      <a:r>
                        <a:rPr lang="en-IN" sz="1600" b="1" dirty="0" err="1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Sushmitha</a:t>
                      </a:r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M V </a:t>
                      </a: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b="1" dirty="0">
                        <a:solidFill>
                          <a:srgbClr val="7030A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 No :</a:t>
                      </a:r>
                      <a:r>
                        <a:rPr lang="en-IN" sz="1600" b="1" baseline="0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IN" sz="1600" b="1" dirty="0">
                          <a:solidFill>
                            <a:srgbClr val="7030A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20211ECE0272</a:t>
                      </a:r>
                    </a:p>
                  </a:txBody>
                  <a:tcPr marL="91454" marR="91454" marT="45749" marB="4574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5">
            <a:extLst>
              <a:ext uri="{FF2B5EF4-FFF2-40B4-BE49-F238E27FC236}">
                <a16:creationId xmlns:a16="http://schemas.microsoft.com/office/drawing/2014/main" id="{4BE6BEB7-A9C0-4F9A-8367-EAE5E9598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624013"/>
            <a:ext cx="8643937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056" bIns="0" anchor="ctr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Submitted to the Presidency University, Bengaluru in partial fulfillment of the requirements for the Degree of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BACHELOR OF TECHNOLOGY in Electronics and Communication ENGINEERING</a:t>
            </a:r>
          </a:p>
          <a:p>
            <a:pPr algn="ctr">
              <a:defRPr/>
            </a:pPr>
            <a:endParaRPr lang="en-US" sz="700" b="1" dirty="0">
              <a:solidFill>
                <a:schemeClr val="accent6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algn="ctr">
              <a:defRPr/>
            </a:pPr>
            <a:endParaRPr lang="en-US" sz="1400" b="1" dirty="0">
              <a:latin typeface="Tahoma" pitchFamily="34" charset="0"/>
              <a:cs typeface="Tahoma" pitchFamily="34" charset="0"/>
            </a:endParaRPr>
          </a:p>
          <a:p>
            <a:pPr algn="ctr">
              <a:defRPr/>
            </a:pPr>
            <a:r>
              <a:rPr lang="en-US" sz="1600" b="1" dirty="0">
                <a:latin typeface="Tahoma" pitchFamily="34" charset="0"/>
                <a:cs typeface="Tahoma" pitchFamily="34" charset="0"/>
              </a:rPr>
              <a:t>By</a:t>
            </a:r>
          </a:p>
        </p:txBody>
      </p:sp>
      <p:pic>
        <p:nvPicPr>
          <p:cNvPr id="3098" name="Content Placeholder 3">
            <a:extLst>
              <a:ext uri="{FF2B5EF4-FFF2-40B4-BE49-F238E27FC236}">
                <a16:creationId xmlns:a16="http://schemas.microsoft.com/office/drawing/2014/main" id="{D3605672-5BBC-4D11-8585-23B70C895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AE1C81C-A048-44F2-8875-32BE02A0F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8275"/>
            <a:ext cx="8624888" cy="403225"/>
          </a:xfrm>
        </p:spPr>
        <p:txBody>
          <a:bodyPr/>
          <a:lstStyle/>
          <a:p>
            <a:pPr algn="l" eaLnBrk="1" hangingPunct="1"/>
            <a:r>
              <a:rPr lang="en-IN" altLang="en-US" sz="2400" b="1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Content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B00EAF21-D9CF-4015-878B-BDC4C9E3D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57250"/>
            <a:ext cx="8586788" cy="4000500"/>
          </a:xfrm>
        </p:spPr>
        <p:txBody>
          <a:bodyPr/>
          <a:lstStyle/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1.Objectives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2.Proposed Method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3.Architecture Diagram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4.Modules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5.Hardware and Software Details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6.Algorithm Details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7. Source Code Details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8.Implementation details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9.References</a:t>
            </a:r>
          </a:p>
          <a:p>
            <a:pPr marL="457200" indent="-457200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10.Acknowledgement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E7B19F-520F-4609-B5B0-5F2641498A93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7CE411-F29B-4B8D-8B8C-567404C8A75F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Slide Number Placeholder 5">
            <a:extLst>
              <a:ext uri="{FF2B5EF4-FFF2-40B4-BE49-F238E27FC236}">
                <a16:creationId xmlns:a16="http://schemas.microsoft.com/office/drawing/2014/main" id="{D53712EA-5F79-4BB1-9F56-3EB79F60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CBF0FF-F3A4-4C4C-B0CB-12DC02C59A9C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pic>
        <p:nvPicPr>
          <p:cNvPr id="4103" name="Content Placeholder 3">
            <a:extLst>
              <a:ext uri="{FF2B5EF4-FFF2-40B4-BE49-F238E27FC236}">
                <a16:creationId xmlns:a16="http://schemas.microsoft.com/office/drawing/2014/main" id="{0FAD19CB-8878-42B6-815F-8B88EEFDC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8C966133-2F43-48EE-BBE4-FBCD2026D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8275"/>
            <a:ext cx="8624888" cy="403225"/>
          </a:xfrm>
        </p:spPr>
        <p:txBody>
          <a:bodyPr/>
          <a:lstStyle/>
          <a:p>
            <a:pPr algn="l" eaLnBrk="1" hangingPunct="1"/>
            <a:r>
              <a:rPr lang="en-IN" altLang="en-US" sz="2400" b="1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Objectives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B3A62F-A47B-4D51-9597-92964D7CE801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656863-65A0-4D2C-B862-2F48D4C2BEDE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3" name="Slide Number Placeholder 5">
            <a:extLst>
              <a:ext uri="{FF2B5EF4-FFF2-40B4-BE49-F238E27FC236}">
                <a16:creationId xmlns:a16="http://schemas.microsoft.com/office/drawing/2014/main" id="{B9A8DAC9-0F47-4CAC-B48B-8E9EB213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B67197-9214-456D-8F03-CCEE6EDE20EA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pic>
        <p:nvPicPr>
          <p:cNvPr id="7174" name="Content Placeholder 3">
            <a:extLst>
              <a:ext uri="{FF2B5EF4-FFF2-40B4-BE49-F238E27FC236}">
                <a16:creationId xmlns:a16="http://schemas.microsoft.com/office/drawing/2014/main" id="{8AB8E1C6-3856-4A12-81F9-F73A84D85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Rectangle 12">
            <a:extLst>
              <a:ext uri="{FF2B5EF4-FFF2-40B4-BE49-F238E27FC236}">
                <a16:creationId xmlns:a16="http://schemas.microsoft.com/office/drawing/2014/main" id="{DE30C10E-56FF-4CE2-B072-CFE066DFE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850"/>
            <a:ext cx="2651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76" name="TextBox 18">
            <a:extLst>
              <a:ext uri="{FF2B5EF4-FFF2-40B4-BE49-F238E27FC236}">
                <a16:creationId xmlns:a16="http://schemas.microsoft.com/office/drawing/2014/main" id="{A222DEAC-DCB0-4230-9DAF-18C19AB56F1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65113" y="884376"/>
            <a:ext cx="8440738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Implement YOLOv5 Framework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Integrate the YOLOv5 model into the autonomous vehicle’s perception system for real-time object detection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 Selection and Preparation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Curate and preprocess a comprehensive dataset that includes diverse objects commonly encountered in driving scenarios (e.g., pedestrians, vehicles, traffic signs).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Training and Optimization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Train the YOLOv5 model with the prepared dataset, optimizing hyperparameters to enhance detection accuracy and speed.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Robustness Testing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Evaluate the model's robustness against various environmental conditions, including different lighting, weather, and urban scenarios.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and Reliability Assessment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Analyze the impact of the object detection system on overall vehicle safety and reliability, including its influence on navigation and obstacle avoidance.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49281A96-65C6-4BB1-A11B-B5FED55E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8275"/>
            <a:ext cx="8624888" cy="403225"/>
          </a:xfrm>
        </p:spPr>
        <p:txBody>
          <a:bodyPr/>
          <a:lstStyle/>
          <a:p>
            <a:pPr algn="l" eaLnBrk="1" hangingPunct="1"/>
            <a:r>
              <a:rPr lang="en-IN" altLang="en-US" sz="2400" b="1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Proposed Method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EA8FCF-1ECD-4566-80AF-37ACE75087A5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5A2D9C-5940-4270-BFB9-62FBE6E620FD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1" name="Slide Number Placeholder 5">
            <a:extLst>
              <a:ext uri="{FF2B5EF4-FFF2-40B4-BE49-F238E27FC236}">
                <a16:creationId xmlns:a16="http://schemas.microsoft.com/office/drawing/2014/main" id="{3A7808BF-3856-4664-A8E6-927FBE6F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12D127-49D1-4C4C-B803-3E580ED3C86C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pic>
        <p:nvPicPr>
          <p:cNvPr id="9222" name="Content Placeholder 3">
            <a:extLst>
              <a:ext uri="{FF2B5EF4-FFF2-40B4-BE49-F238E27FC236}">
                <a16:creationId xmlns:a16="http://schemas.microsoft.com/office/drawing/2014/main" id="{FB8D86F8-CB36-439B-B141-DFF7FE9BE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11">
            <a:extLst>
              <a:ext uri="{FF2B5EF4-FFF2-40B4-BE49-F238E27FC236}">
                <a16:creationId xmlns:a16="http://schemas.microsoft.com/office/drawing/2014/main" id="{4084A9E1-4C19-410D-B579-73D128261DFE}"/>
              </a:ext>
            </a:extLst>
          </p:cNvPr>
          <p:cNvSpPr txBox="1">
            <a:spLocks noChangeArrowheads="1"/>
          </p:cNvSpPr>
          <p:nvPr/>
        </p:nvSpPr>
        <p:spPr bwMode="auto">
          <a:xfrm flipH="1" flipV="1">
            <a:off x="366713" y="1185863"/>
            <a:ext cx="8701087" cy="490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9224" name="Rectangle 10">
            <a:extLst>
              <a:ext uri="{FF2B5EF4-FFF2-40B4-BE49-F238E27FC236}">
                <a16:creationId xmlns:a16="http://schemas.microsoft.com/office/drawing/2014/main" id="{4258FD60-81C7-4C64-966C-EC84A12EC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10" y="914400"/>
            <a:ext cx="914082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Dataset Acquisition and Preparation</a:t>
            </a: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Diverse Dataset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Collect a comprehensive dataset that includes a wide range of objects encountered in urban and rural environments, such as pedestrians, cyclists, vehicles, traffic signs, and road barriers.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Augmentation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Apply techniques like flipping, rotation, scaling, and color jittering to enhance the dataset and improve the model's generalization capabilities.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Model Training</a:t>
            </a: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YOLOv5 Configuration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Utilize YOLOv5's pre-trained weights for transfer learning, allowing the model to adapt quickly to the specific dataset.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Real-Time Inference Optimization</a:t>
            </a: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Pruning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Reduce the model size by pruning less significant weights, maintaining speed without sacrificing accuracy.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Quantization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Apply quantization techniques to reduce the computational load and memory footprint, allowing for faster inference on edge devices.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3E964F1-4D44-40AA-9BE5-E0A212D85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8275"/>
            <a:ext cx="8624888" cy="403225"/>
          </a:xfrm>
        </p:spPr>
        <p:txBody>
          <a:bodyPr/>
          <a:lstStyle/>
          <a:p>
            <a:pPr algn="l" eaLnBrk="1" hangingPunct="1"/>
            <a:r>
              <a:rPr lang="en-IN" altLang="en-US" sz="2400" b="1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Proposed Method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F9381A-86CE-49DB-8F69-00B0AF255346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95A81-1231-4299-98C6-3189816E85C3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5" name="Slide Number Placeholder 5">
            <a:extLst>
              <a:ext uri="{FF2B5EF4-FFF2-40B4-BE49-F238E27FC236}">
                <a16:creationId xmlns:a16="http://schemas.microsoft.com/office/drawing/2014/main" id="{F6881905-D5F4-47BD-94CC-1180B434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05F800-83AA-4D00-B910-687110D19252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pic>
        <p:nvPicPr>
          <p:cNvPr id="10246" name="Content Placeholder 3">
            <a:extLst>
              <a:ext uri="{FF2B5EF4-FFF2-40B4-BE49-F238E27FC236}">
                <a16:creationId xmlns:a16="http://schemas.microsoft.com/office/drawing/2014/main" id="{D50AF1C6-EF7A-40BA-B947-E8AA48D4A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TextBox 11">
            <a:extLst>
              <a:ext uri="{FF2B5EF4-FFF2-40B4-BE49-F238E27FC236}">
                <a16:creationId xmlns:a16="http://schemas.microsoft.com/office/drawing/2014/main" id="{925DD9A2-182D-4835-8E12-6459DDC123AE}"/>
              </a:ext>
            </a:extLst>
          </p:cNvPr>
          <p:cNvSpPr txBox="1">
            <a:spLocks noChangeArrowheads="1"/>
          </p:cNvSpPr>
          <p:nvPr/>
        </p:nvSpPr>
        <p:spPr bwMode="auto">
          <a:xfrm flipH="1" flipV="1">
            <a:off x="366713" y="1185863"/>
            <a:ext cx="8701087" cy="490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0248" name="Rectangle 10">
            <a:extLst>
              <a:ext uri="{FF2B5EF4-FFF2-40B4-BE49-F238E27FC236}">
                <a16:creationId xmlns:a16="http://schemas.microsoft.com/office/drawing/2014/main" id="{997DEC88-E9E6-494B-897E-6D69CA65E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035338"/>
            <a:ext cx="9140825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Sensor Integration</a:t>
            </a: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Multi-Sensor Fusion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Integrate data from cameras, LIDAR, and radar to enhance detection capabilities and improve overall situational awareness.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Implementation and Deploy</a:t>
            </a: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Edge Computing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Deploy the optimized YOLOv5 model on edge devices (e.g. Raspberry pi, GPUs, FPGAs) within the vehicle to facilitate low-latency processing.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 Performance Evaluation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Robustness Testing</a:t>
            </a:r>
            <a:r>
              <a:rPr lang="en-US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Test the model's performance under different environmental conditions (lighting, weather, and traffic density) to ensure reliability.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158447ED-6F14-4481-9C32-2E761C9D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8275"/>
            <a:ext cx="8624888" cy="403225"/>
          </a:xfrm>
        </p:spPr>
        <p:txBody>
          <a:bodyPr/>
          <a:lstStyle/>
          <a:p>
            <a:pPr algn="l" eaLnBrk="1" hangingPunct="1"/>
            <a:r>
              <a:rPr lang="en-IN" altLang="en-US" sz="2400" b="1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Architecture Diagram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F9C656-5AC3-4111-8E2F-CD524E25BACA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E30456-56BE-4C27-A797-565BD6BB90B0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9" name="Slide Number Placeholder 5">
            <a:extLst>
              <a:ext uri="{FF2B5EF4-FFF2-40B4-BE49-F238E27FC236}">
                <a16:creationId xmlns:a16="http://schemas.microsoft.com/office/drawing/2014/main" id="{37537333-11A7-4480-B500-EBB7B764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3842D7-F67B-4661-97AA-077D3D331C41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pic>
        <p:nvPicPr>
          <p:cNvPr id="11270" name="Content Placeholder 3">
            <a:extLst>
              <a:ext uri="{FF2B5EF4-FFF2-40B4-BE49-F238E27FC236}">
                <a16:creationId xmlns:a16="http://schemas.microsoft.com/office/drawing/2014/main" id="{66B1FD3F-D7E6-454C-9B5D-3E8F95755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9" descr="Electronics 12 02768 g001 550">
            <a:extLst>
              <a:ext uri="{FF2B5EF4-FFF2-40B4-BE49-F238E27FC236}">
                <a16:creationId xmlns:a16="http://schemas.microsoft.com/office/drawing/2014/main" id="{E422F887-9ADF-4428-B83D-B0A41B0BE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1293813"/>
            <a:ext cx="8474075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40FA9AA6-AFB1-4513-8186-64422F3D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8275"/>
            <a:ext cx="8624888" cy="403225"/>
          </a:xfrm>
        </p:spPr>
        <p:txBody>
          <a:bodyPr/>
          <a:lstStyle/>
          <a:p>
            <a:pPr algn="l" eaLnBrk="1" hangingPunct="1"/>
            <a:r>
              <a:rPr lang="en-IN" altLang="en-US" sz="2400" b="1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Architecture Diagram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E9E7C1-5E61-44DD-8EC5-23784AD9EFD2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A6393F-128F-4F2B-A158-BD61A6912C4B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Slide Number Placeholder 5">
            <a:extLst>
              <a:ext uri="{FF2B5EF4-FFF2-40B4-BE49-F238E27FC236}">
                <a16:creationId xmlns:a16="http://schemas.microsoft.com/office/drawing/2014/main" id="{BC9B7D03-74F2-4A08-B3E1-29E364A7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AC3E7E-87A0-4908-9326-A01EB2E9377F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pic>
        <p:nvPicPr>
          <p:cNvPr id="12294" name="Content Placeholder 3">
            <a:extLst>
              <a:ext uri="{FF2B5EF4-FFF2-40B4-BE49-F238E27FC236}">
                <a16:creationId xmlns:a16="http://schemas.microsoft.com/office/drawing/2014/main" id="{D51CFE3F-A6E9-4615-8EE2-724A08C88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1">
            <a:extLst>
              <a:ext uri="{FF2B5EF4-FFF2-40B4-BE49-F238E27FC236}">
                <a16:creationId xmlns:a16="http://schemas.microsoft.com/office/drawing/2014/main" id="{C6657D51-ED43-4D40-A67D-47483D5B4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1350963"/>
            <a:ext cx="8416925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1">
            <a:extLst>
              <a:ext uri="{FF2B5EF4-FFF2-40B4-BE49-F238E27FC236}">
                <a16:creationId xmlns:a16="http://schemas.microsoft.com/office/drawing/2014/main" id="{7417069B-6775-4A60-B7D8-FB637BCB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84242F-8DF3-4841-AA58-E9D09D30B762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C1C343-48B7-4530-B850-7939D080077C}"/>
              </a:ext>
            </a:extLst>
          </p:cNvPr>
          <p:cNvSpPr txBox="1">
            <a:spLocks/>
          </p:cNvSpPr>
          <p:nvPr/>
        </p:nvSpPr>
        <p:spPr>
          <a:xfrm>
            <a:off x="304800" y="168275"/>
            <a:ext cx="8624888" cy="403225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0070C0"/>
                </a:solidFill>
                <a:latin typeface="Tahoma" pitchFamily="34" charset="0"/>
                <a:ea typeface="+mj-ea"/>
                <a:cs typeface="Tahoma" pitchFamily="34" charset="0"/>
              </a:rPr>
              <a:t>Hardware , Software , Modules Details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FB9E95-578A-4880-B300-E51550CE62AF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D137D9-DE62-424C-8125-0E188DAB7330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0" name="TextBox 5">
            <a:extLst>
              <a:ext uri="{FF2B5EF4-FFF2-40B4-BE49-F238E27FC236}">
                <a16:creationId xmlns:a16="http://schemas.microsoft.com/office/drawing/2014/main" id="{D17888C8-4A7A-4A8A-B7B4-EC07A5EF0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785813"/>
            <a:ext cx="8572500" cy="501675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Hardware: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Raspberry Pi 5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Raspberry Pi camera v1.3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7 inch display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Software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Raspberry Pi OS (System: 64-bit,version: 12 (bookworm))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 err="1">
                <a:latin typeface="Tahoma" panose="020B0604030504040204" pitchFamily="34" charset="0"/>
                <a:cs typeface="Tahoma" panose="020B0604030504040204" pitchFamily="34" charset="0"/>
              </a:rPr>
              <a:t>Thonny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 IDE (version: 3.1.1)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ct val="0"/>
              </a:spcBef>
              <a:buNone/>
              <a:defRPr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Modules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Pillow 10.4.0 (Python Imaging Library)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 err="1">
                <a:latin typeface="Tahoma" panose="020B0604030504040204" pitchFamily="34" charset="0"/>
                <a:cs typeface="Tahoma" panose="020B0604030504040204" pitchFamily="34" charset="0"/>
              </a:rPr>
              <a:t>Ultralytics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(YOLO-You Only Look Once) Yolov8s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 err="1">
                <a:latin typeface="Tahoma" panose="020B0604030504040204" pitchFamily="34" charset="0"/>
                <a:cs typeface="Tahoma" panose="020B0604030504040204" pitchFamily="34" charset="0"/>
              </a:rPr>
              <a:t>Opencv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-python 4.10.0.84 (CV2)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 err="1">
                <a:latin typeface="Tahoma" panose="020B0604030504040204" pitchFamily="34" charset="0"/>
                <a:cs typeface="Tahoma" panose="020B0604030504040204" pitchFamily="34" charset="0"/>
              </a:rPr>
              <a:t>Numpy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 2.1.1</a:t>
            </a:r>
          </a:p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picamera2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IN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319" name="Content Placeholder 3">
            <a:extLst>
              <a:ext uri="{FF2B5EF4-FFF2-40B4-BE49-F238E27FC236}">
                <a16:creationId xmlns:a16="http://schemas.microsoft.com/office/drawing/2014/main" id="{6A2AFC2F-D9DC-4119-9CE9-F08045BC6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E69E4D8A-9136-4F11-8AF5-48851E2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68EFB-028E-4652-A8BC-5DCF0536C340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5123" name="Title 1">
            <a:extLst>
              <a:ext uri="{FF2B5EF4-FFF2-40B4-BE49-F238E27FC236}">
                <a16:creationId xmlns:a16="http://schemas.microsoft.com/office/drawing/2014/main" id="{1F29D7FF-0976-4DB6-A877-D8F324EC7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113" y="168275"/>
            <a:ext cx="8624887" cy="403225"/>
          </a:xfrm>
        </p:spPr>
        <p:txBody>
          <a:bodyPr/>
          <a:lstStyle/>
          <a:p>
            <a:pPr algn="l" eaLnBrk="1" hangingPunct="1"/>
            <a:r>
              <a:rPr lang="en-IN" altLang="en-US" sz="24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Algorithm Details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AA0B6E-1471-40E9-BE8D-B2311E85C690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29F744-EB29-4833-8DCF-C7B599AC61AA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9">
            <a:extLst>
              <a:ext uri="{FF2B5EF4-FFF2-40B4-BE49-F238E27FC236}">
                <a16:creationId xmlns:a16="http://schemas.microsoft.com/office/drawing/2014/main" id="{2ED45E0D-E170-487C-BD68-F38653CD1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03" y="1001642"/>
            <a:ext cx="85725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Convolutional Neural Networks (CNNs) is to automatically find important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features in images (like edges, textures, and shapes)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CNN use principles from linear algebra, particularly convolution operations,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to extract features and identify patterns within images.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7" name="Content Placeholder 3">
            <a:extLst>
              <a:ext uri="{FF2B5EF4-FFF2-40B4-BE49-F238E27FC236}">
                <a16:creationId xmlns:a16="http://schemas.microsoft.com/office/drawing/2014/main" id="{93D74E0B-4C80-4CFE-895C-37750F063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EF511891-7035-413F-AC6B-0B863B747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36912"/>
            <a:ext cx="8294900" cy="371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E69E4D8A-9136-4F11-8AF5-48851E2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68EFB-028E-4652-A8BC-5DCF0536C340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5123" name="Title 1">
            <a:extLst>
              <a:ext uri="{FF2B5EF4-FFF2-40B4-BE49-F238E27FC236}">
                <a16:creationId xmlns:a16="http://schemas.microsoft.com/office/drawing/2014/main" id="{1F29D7FF-0976-4DB6-A877-D8F324EC7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154058"/>
            <a:ext cx="8624887" cy="403225"/>
          </a:xfrm>
        </p:spPr>
        <p:txBody>
          <a:bodyPr/>
          <a:lstStyle/>
          <a:p>
            <a:pPr algn="l" eaLnBrk="1" hangingPunct="1"/>
            <a:r>
              <a:rPr lang="en-IN" altLang="en-US" sz="24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Source Code Details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AA0B6E-1471-40E9-BE8D-B2311E85C690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29F744-EB29-4833-8DCF-C7B599AC61AA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9">
            <a:extLst>
              <a:ext uri="{FF2B5EF4-FFF2-40B4-BE49-F238E27FC236}">
                <a16:creationId xmlns:a16="http://schemas.microsoft.com/office/drawing/2014/main" id="{2ED45E0D-E170-487C-BD68-F38653CD1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03" y="1001642"/>
            <a:ext cx="857250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1. YOLO Model for Object Detection: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Loads a pretrained YOLOv8 model (yolov8n.pt) for object detection on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each frame of a video named Driving.mp4.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Extracts bounding boxes for detected objects and stores vehicle-related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ones for further processing.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2. Lane Detection: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Applies grayscale conversion, Gaussian blur, and Canny edge detection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on each frame.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Defines a region of interest (ROI) to focus lane detection in the road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area.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Uses the Hough Line Transform to detect and draw lane lines on the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frame.</a:t>
            </a:r>
          </a:p>
        </p:txBody>
      </p:sp>
      <p:pic>
        <p:nvPicPr>
          <p:cNvPr id="5127" name="Content Placeholder 3">
            <a:extLst>
              <a:ext uri="{FF2B5EF4-FFF2-40B4-BE49-F238E27FC236}">
                <a16:creationId xmlns:a16="http://schemas.microsoft.com/office/drawing/2014/main" id="{93D74E0B-4C80-4CFE-895C-37750F063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8046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E69E4D8A-9136-4F11-8AF5-48851E2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68EFB-028E-4652-A8BC-5DCF0536C340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5123" name="Title 1">
            <a:extLst>
              <a:ext uri="{FF2B5EF4-FFF2-40B4-BE49-F238E27FC236}">
                <a16:creationId xmlns:a16="http://schemas.microsoft.com/office/drawing/2014/main" id="{1F29D7FF-0976-4DB6-A877-D8F324EC7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154058"/>
            <a:ext cx="8624887" cy="403225"/>
          </a:xfrm>
        </p:spPr>
        <p:txBody>
          <a:bodyPr/>
          <a:lstStyle/>
          <a:p>
            <a:pPr algn="l" eaLnBrk="1" hangingPunct="1"/>
            <a:r>
              <a:rPr lang="en-IN" altLang="en-US" sz="24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Source Code Details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AA0B6E-1471-40E9-BE8D-B2311E85C690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29F744-EB29-4833-8DCF-C7B599AC61AA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9">
            <a:extLst>
              <a:ext uri="{FF2B5EF4-FFF2-40B4-BE49-F238E27FC236}">
                <a16:creationId xmlns:a16="http://schemas.microsoft.com/office/drawing/2014/main" id="{2ED45E0D-E170-487C-BD68-F38653CD1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03" y="1001642"/>
            <a:ext cx="85725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3. Distance Calculation Between Vehicles: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Calculates the Euclidean distance between the bounding box centers of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detected vehicles.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Converts pixel distances to real-world units, providing an estimated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distance in meters for the closest vehicle.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4. Result Display and Output: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Annotates the frame with lane markings and displays the calculated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distance to the closest vehicle in front, if available.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Writes the processed frames to an output video file (results.mp4) and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displays them in real-time until the user presses 'q' to exit.</a:t>
            </a:r>
          </a:p>
        </p:txBody>
      </p:sp>
      <p:pic>
        <p:nvPicPr>
          <p:cNvPr id="5127" name="Content Placeholder 3">
            <a:extLst>
              <a:ext uri="{FF2B5EF4-FFF2-40B4-BE49-F238E27FC236}">
                <a16:creationId xmlns:a16="http://schemas.microsoft.com/office/drawing/2014/main" id="{93D74E0B-4C80-4CFE-895C-37750F063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7613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D5663D-3BE7-4F8C-BAE4-38D404FF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8D2EB-D19F-4D0C-8D56-129C25565FB1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A121D-F2F4-4A8B-9B19-F7579B142B4F}"/>
              </a:ext>
            </a:extLst>
          </p:cNvPr>
          <p:cNvSpPr txBox="1"/>
          <p:nvPr/>
        </p:nvSpPr>
        <p:spPr>
          <a:xfrm>
            <a:off x="251520" y="260648"/>
            <a:ext cx="85689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PIL import Image</a:t>
            </a:r>
          </a:p>
          <a:p>
            <a:r>
              <a:rPr lang="en-US"/>
              <a:t>from ultralytics import YOLO</a:t>
            </a:r>
          </a:p>
          <a:p>
            <a:r>
              <a:rPr lang="en-US"/>
              <a:t>import cv2</a:t>
            </a:r>
          </a:p>
          <a:p>
            <a:r>
              <a:rPr lang="en-US"/>
              <a:t>import numpy as np</a:t>
            </a:r>
          </a:p>
          <a:p>
            <a:r>
              <a:rPr lang="en-US"/>
              <a:t>from picamera2 import Picamera2, Preview</a:t>
            </a:r>
          </a:p>
          <a:p>
            <a:endParaRPr lang="en-US"/>
          </a:p>
          <a:p>
            <a:r>
              <a:rPr lang="en-US"/>
              <a:t># Load a pretrained YOLOv8n model</a:t>
            </a:r>
          </a:p>
          <a:p>
            <a:r>
              <a:rPr lang="en-US"/>
              <a:t>model = YOLO('yolov8s.pt')</a:t>
            </a:r>
          </a:p>
          <a:p>
            <a:endParaRPr lang="en-US"/>
          </a:p>
          <a:p>
            <a:r>
              <a:rPr lang="en-US"/>
              <a:t># Initialize the PiCamera2 and configure settings</a:t>
            </a:r>
          </a:p>
          <a:p>
            <a:r>
              <a:rPr lang="en-US"/>
              <a:t>picam2 = Picamera2()</a:t>
            </a:r>
          </a:p>
          <a:p>
            <a:r>
              <a:rPr lang="en-US"/>
              <a:t>config = picam2.create_still_configuration(main={"size": (640, 480)})  # Set resolution to 640x480</a:t>
            </a:r>
          </a:p>
          <a:p>
            <a:r>
              <a:rPr lang="en-US"/>
              <a:t>picam2.configure(config)</a:t>
            </a:r>
          </a:p>
          <a:p>
            <a:r>
              <a:rPr lang="en-US"/>
              <a:t>picam2.start()</a:t>
            </a:r>
          </a:p>
          <a:p>
            <a:endParaRPr lang="en-US"/>
          </a:p>
          <a:p>
            <a:r>
              <a:rPr lang="en-US"/>
              <a:t># Define the codec and create VideoWriter object to save output (optional)</a:t>
            </a:r>
          </a:p>
          <a:p>
            <a:r>
              <a:rPr lang="en-US"/>
              <a:t>fourcc = cv2.VideoWriter_fourcc(*'mp4v')</a:t>
            </a:r>
          </a:p>
          <a:p>
            <a:r>
              <a:rPr lang="en-US"/>
              <a:t>output_path = 'results.mp4'</a:t>
            </a:r>
          </a:p>
          <a:p>
            <a:r>
              <a:rPr lang="en-US"/>
              <a:t>fps = 30  # Set FPS (you can adjust this based on performance)</a:t>
            </a:r>
          </a:p>
          <a:p>
            <a:r>
              <a:rPr lang="en-US"/>
              <a:t>out = cv2.VideoWriter(output_path, fourcc, fps, (640, 480))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8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D5663D-3BE7-4F8C-BAE4-38D404FF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8D2EB-D19F-4D0C-8D56-129C25565FB1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6142B-C5EC-450F-9319-8B14A6F719E3}"/>
              </a:ext>
            </a:extLst>
          </p:cNvPr>
          <p:cNvSpPr txBox="1"/>
          <p:nvPr/>
        </p:nvSpPr>
        <p:spPr>
          <a:xfrm>
            <a:off x="323528" y="332656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Raspberry pi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D6D538-99A0-4967-B4B0-957EBF17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599"/>
            <a:ext cx="9144000" cy="573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AE845-63B7-4E88-ADF4-74B3CB86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8D2EB-D19F-4D0C-8D56-129C25565FB1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BA48B-0D80-4EBF-95E8-9D24113C2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510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90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5A6F50-4B1D-452F-9D37-13E54A04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8D2EB-D19F-4D0C-8D56-129C25565FB1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DE873-B7B4-4963-B3E0-6CAAF8345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7"/>
            <a:ext cx="9144000" cy="516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48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9CB038-54C8-4CB8-8AA9-85D484BB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8D2EB-D19F-4D0C-8D56-129C25565FB1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2A2C9-3DC7-44CC-A432-4B0DC888E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4000" cy="516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57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A484B2-FC5E-4544-9134-12378EF9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8D2EB-D19F-4D0C-8D56-129C25565FB1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2C815-28C2-4E68-9E2E-49B1D58D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509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16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39368C-0367-4FE3-A29F-61F1F9E1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8D2EB-D19F-4D0C-8D56-129C25565FB1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F9FEF-54B1-4818-9F31-6C904CE90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509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44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E69E4D8A-9136-4F11-8AF5-48851E2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68EFB-028E-4652-A8BC-5DCF0536C340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5123" name="Title 1">
            <a:extLst>
              <a:ext uri="{FF2B5EF4-FFF2-40B4-BE49-F238E27FC236}">
                <a16:creationId xmlns:a16="http://schemas.microsoft.com/office/drawing/2014/main" id="{1F29D7FF-0976-4DB6-A877-D8F324EC7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154058"/>
            <a:ext cx="8624887" cy="403225"/>
          </a:xfrm>
        </p:spPr>
        <p:txBody>
          <a:bodyPr/>
          <a:lstStyle/>
          <a:p>
            <a:pPr algn="l" eaLnBrk="1" hangingPunct="1"/>
            <a:r>
              <a:rPr lang="en-IN" altLang="en-US" sz="24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Implementation details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AA0B6E-1471-40E9-BE8D-B2311E85C690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29F744-EB29-4833-8DCF-C7B599AC61AA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7" name="Content Placeholder 3">
            <a:extLst>
              <a:ext uri="{FF2B5EF4-FFF2-40B4-BE49-F238E27FC236}">
                <a16:creationId xmlns:a16="http://schemas.microsoft.com/office/drawing/2014/main" id="{93D74E0B-4C80-4CFE-895C-37750F063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5AAB4E-1746-44C0-93D0-8719A30BDF76}"/>
              </a:ext>
            </a:extLst>
          </p:cNvPr>
          <p:cNvSpPr txBox="1"/>
          <p:nvPr/>
        </p:nvSpPr>
        <p:spPr>
          <a:xfrm>
            <a:off x="304800" y="745948"/>
            <a:ext cx="8778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1.YOLO Model Initialization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•The code loads a pre-trained YOLOv8 model using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ultralytics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library 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(model = YOLO('yolov8s.pt’)).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This model is used for detecting objects in video frames.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Video Processing Setup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The input video file (Driving.mp4) is read using OpenCV's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VideoCapture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Properties like frame rate (fps), width, and height are retrieved to process     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and save the output video correctly.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Lane Detection Function (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lane_detection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Converts the frame to grayscale and applies Gaussian blur to reduce noise.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Uses Canny edge detection to identify edges in the frame.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A region of interest (ROI) is defined using a polygon mask to focus on  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potential lane areas.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Hough Line Transform is applied to detect straight lines representing lane 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markings.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Detected lines are drawn on the frame in green.</a:t>
            </a:r>
          </a:p>
        </p:txBody>
      </p:sp>
    </p:spTree>
    <p:extLst>
      <p:ext uri="{BB962C8B-B14F-4D97-AF65-F5344CB8AC3E}">
        <p14:creationId xmlns:p14="http://schemas.microsoft.com/office/powerpoint/2010/main" val="2090235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E69E4D8A-9136-4F11-8AF5-48851E2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68EFB-028E-4652-A8BC-5DCF0536C340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5123" name="Title 1">
            <a:extLst>
              <a:ext uri="{FF2B5EF4-FFF2-40B4-BE49-F238E27FC236}">
                <a16:creationId xmlns:a16="http://schemas.microsoft.com/office/drawing/2014/main" id="{1F29D7FF-0976-4DB6-A877-D8F324EC7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154058"/>
            <a:ext cx="8624887" cy="403225"/>
          </a:xfrm>
        </p:spPr>
        <p:txBody>
          <a:bodyPr/>
          <a:lstStyle/>
          <a:p>
            <a:pPr algn="l" eaLnBrk="1" hangingPunct="1"/>
            <a:r>
              <a:rPr lang="en-IN" altLang="en-US" sz="24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Implementation details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AA0B6E-1471-40E9-BE8D-B2311E85C690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29F744-EB29-4833-8DCF-C7B599AC61AA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9">
            <a:extLst>
              <a:ext uri="{FF2B5EF4-FFF2-40B4-BE49-F238E27FC236}">
                <a16:creationId xmlns:a16="http://schemas.microsoft.com/office/drawing/2014/main" id="{2ED45E0D-E170-487C-BD68-F38653CD1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774670"/>
            <a:ext cx="877824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4. Distance Calculation Function (</a:t>
            </a:r>
            <a:r>
              <a:rPr lang="en-US" altLang="en-US" sz="2000" b="1" dirty="0" err="1">
                <a:latin typeface="Tahoma" panose="020B0604030504040204" pitchFamily="34" charset="0"/>
                <a:cs typeface="Tahoma" panose="020B0604030504040204" pitchFamily="34" charset="0"/>
              </a:rPr>
              <a:t>calculate_distance</a:t>
            </a: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Computes the center points of detected bounding boxes.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Calculates the Euclidean distance between two bounding boxes.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A scaling factor (</a:t>
            </a:r>
            <a:r>
              <a:rPr lang="en-US" altLang="en-US" sz="2000" dirty="0" err="1">
                <a:latin typeface="Tahoma" panose="020B0604030504040204" pitchFamily="34" charset="0"/>
                <a:cs typeface="Tahoma" panose="020B0604030504040204" pitchFamily="34" charset="0"/>
              </a:rPr>
              <a:t>real_world_distance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 = distance / 30.0) is used to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estimate the real-world distance in meters.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5. Object Detection and Distance Estimation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For each frame, the YOLO model runs inference to detect objects,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particularly focusing on vehicles.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Vehicle bounding boxes are collected, and the distance between the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closest front vehicle and others is calculated.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If a front vehicle is detected, the distance is displayed on the frame.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7" name="Content Placeholder 3">
            <a:extLst>
              <a:ext uri="{FF2B5EF4-FFF2-40B4-BE49-F238E27FC236}">
                <a16:creationId xmlns:a16="http://schemas.microsoft.com/office/drawing/2014/main" id="{93D74E0B-4C80-4CFE-895C-37750F063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585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E69E4D8A-9136-4F11-8AF5-48851E2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68EFB-028E-4652-A8BC-5DCF0536C340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5123" name="Title 1">
            <a:extLst>
              <a:ext uri="{FF2B5EF4-FFF2-40B4-BE49-F238E27FC236}">
                <a16:creationId xmlns:a16="http://schemas.microsoft.com/office/drawing/2014/main" id="{1F29D7FF-0976-4DB6-A877-D8F324EC7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154058"/>
            <a:ext cx="8624887" cy="403225"/>
          </a:xfrm>
        </p:spPr>
        <p:txBody>
          <a:bodyPr/>
          <a:lstStyle/>
          <a:p>
            <a:pPr algn="l" eaLnBrk="1" hangingPunct="1"/>
            <a:r>
              <a:rPr lang="en-IN" altLang="en-US" sz="24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Implementation details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AA0B6E-1471-40E9-BE8D-B2311E85C690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29F744-EB29-4833-8DCF-C7B599AC61AA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9">
            <a:extLst>
              <a:ext uri="{FF2B5EF4-FFF2-40B4-BE49-F238E27FC236}">
                <a16:creationId xmlns:a16="http://schemas.microsoft.com/office/drawing/2014/main" id="{2ED45E0D-E170-487C-BD68-F38653CD1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774670"/>
            <a:ext cx="877824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6. Lane Detection and Frame Display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Lane detection is applied to the frame, and the processed frame is saved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to an output video file (results.mp4).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The video with overlaid lane markings and distance information is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displayed in a window.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The loop runs until the video ends or the 'q' key is pressed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Dependencies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cv2 (OpenCV):For video processing, image operations, and displaying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output.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 err="1">
                <a:latin typeface="Tahoma" panose="020B0604030504040204" pitchFamily="34" charset="0"/>
                <a:cs typeface="Tahoma" panose="020B0604030504040204" pitchFamily="34" charset="0"/>
              </a:rPr>
              <a:t>ultralytics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 (YOLO): For object detection using YOLOv8 model.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altLang="en-US" sz="2000" dirty="0" err="1">
                <a:latin typeface="Tahoma" panose="020B0604030504040204" pitchFamily="34" charset="0"/>
                <a:cs typeface="Tahoma" panose="020B0604030504040204" pitchFamily="34" charset="0"/>
              </a:rPr>
              <a:t>numpy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: For numerical operations, especially distance calculation.</a:t>
            </a:r>
          </a:p>
        </p:txBody>
      </p:sp>
      <p:pic>
        <p:nvPicPr>
          <p:cNvPr id="5127" name="Content Placeholder 3">
            <a:extLst>
              <a:ext uri="{FF2B5EF4-FFF2-40B4-BE49-F238E27FC236}">
                <a16:creationId xmlns:a16="http://schemas.microsoft.com/office/drawing/2014/main" id="{93D74E0B-4C80-4CFE-895C-37750F063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6351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B366D7BA-B1A0-4DE3-986A-C6A408F6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B9CC38-FBC5-4815-9F29-ADB4885F1E24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5363" name="Title 1">
            <a:extLst>
              <a:ext uri="{FF2B5EF4-FFF2-40B4-BE49-F238E27FC236}">
                <a16:creationId xmlns:a16="http://schemas.microsoft.com/office/drawing/2014/main" id="{4F3A543A-5FB5-4D68-A2D9-963B3CC563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113" y="168275"/>
            <a:ext cx="8624887" cy="403225"/>
          </a:xfrm>
        </p:spPr>
        <p:txBody>
          <a:bodyPr/>
          <a:lstStyle/>
          <a:p>
            <a:pPr algn="l" eaLnBrk="1" hangingPunct="1"/>
            <a:r>
              <a:rPr lang="en-IN" altLang="en-US" sz="2400" b="1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References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5EBF33-7AB3-48F9-8496-90F6AE4550CE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0B6CB3-542B-46A8-A283-D50029310884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7EF3D98E-7647-4373-A597-D18EA5BF4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85813"/>
            <a:ext cx="8572500" cy="566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[1]  A. 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Ihssian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K. Ismail, Modelling pedestrian safety at urban intersections using user perception, Accident Analysis &amp; Prevention, 180, 106912, (2023) [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CrossRef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] [Google Scholar]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[2] X. Wang, C. Ye, M. 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Quddus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A. Morris, Pedestrian safety in an automated driving environment: Calibrating and evaluating the responsibility-sensitive safety model, Accident Analysis &amp; Prevention, 192, 107265, (2023) [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CrossRef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] [Google Scholar]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[3]  F. W. Siebert, M. 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Møller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A. Moe 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Moe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 Lwin, D. Albers, Illusion of safety? Safety-related perceptions of pedestrians and car drivers around 3D crosswalks, Transportation Research Part F: Traffic Psychology and 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Behaviour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91, Pages 213-222, (2022) [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CrossRef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] [Google Scholar]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[4]  Z. Meng, S. Zhao, H. Chen, M. Hu, Y. Tang and Y. Song, The Vehicle Testing Based on Digital Twins Theory for Autonomous Vehicles, in IEEE Journal of Radio Frequency Identification, 6, pp. 710-714, (2022) [</a:t>
            </a:r>
            <a:r>
              <a:rPr lang="en-US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CrossRef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] [Google Scholar]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[5]  X. Cai and X. Ding, A comparative study of machine vision-based rail foreign object intrusion detection models, 2023 IEEE 3rd International Conference on Power, Electronics and Computer Applications (ICPECA), pp. 1304-1308, Shenyang, China (2023) [Google Scholar]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IN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367" name="Content Placeholder 3">
            <a:extLst>
              <a:ext uri="{FF2B5EF4-FFF2-40B4-BE49-F238E27FC236}">
                <a16:creationId xmlns:a16="http://schemas.microsoft.com/office/drawing/2014/main" id="{A93D8EA6-1426-49BA-9E83-692D86501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>
            <a:extLst>
              <a:ext uri="{FF2B5EF4-FFF2-40B4-BE49-F238E27FC236}">
                <a16:creationId xmlns:a16="http://schemas.microsoft.com/office/drawing/2014/main" id="{5614DC35-5A4C-46B2-97BF-94F07F93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3384FB-3F03-4C6E-95DA-017C91212B8D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320546C-E4E4-494C-BD33-64914FF8D4FD}"/>
              </a:ext>
            </a:extLst>
          </p:cNvPr>
          <p:cNvSpPr txBox="1">
            <a:spLocks/>
          </p:cNvSpPr>
          <p:nvPr/>
        </p:nvSpPr>
        <p:spPr>
          <a:xfrm>
            <a:off x="304800" y="168275"/>
            <a:ext cx="8624888" cy="403225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0070C0"/>
                </a:solidFill>
                <a:latin typeface="Tahoma" pitchFamily="34" charset="0"/>
                <a:ea typeface="+mj-ea"/>
                <a:cs typeface="Tahoma" pitchFamily="34" charset="0"/>
              </a:rPr>
              <a:t>Acknowledgement</a:t>
            </a:r>
            <a:endParaRPr lang="en-IN" sz="2400" b="1" dirty="0">
              <a:solidFill>
                <a:srgbClr val="0070C0"/>
              </a:solidFill>
              <a:latin typeface="Tahoma" pitchFamily="34" charset="0"/>
              <a:ea typeface="+mj-ea"/>
              <a:cs typeface="Tahoma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58D849-85A2-4BD8-8753-A955216A2C7C}"/>
              </a:ext>
            </a:extLst>
          </p:cNvPr>
          <p:cNvCxnSpPr/>
          <p:nvPr/>
        </p:nvCxnSpPr>
        <p:spPr>
          <a:xfrm>
            <a:off x="304800" y="642938"/>
            <a:ext cx="8610600" cy="158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393DD9-79A8-4E29-9BC0-E7845B130329}"/>
              </a:ext>
            </a:extLst>
          </p:cNvPr>
          <p:cNvCxnSpPr/>
          <p:nvPr/>
        </p:nvCxnSpPr>
        <p:spPr>
          <a:xfrm>
            <a:off x="304800" y="712788"/>
            <a:ext cx="8610600" cy="1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5">
            <a:extLst>
              <a:ext uri="{FF2B5EF4-FFF2-40B4-BE49-F238E27FC236}">
                <a16:creationId xmlns:a16="http://schemas.microsoft.com/office/drawing/2014/main" id="{DA66C963-CC3F-4F6E-BBA5-FA22F7978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85813"/>
            <a:ext cx="8501062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We would like to express our sincere thanks to the supervisor, Mrs. </a:t>
            </a:r>
            <a:r>
              <a:rPr lang="en-GB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Pallabi</a:t>
            </a:r>
            <a:r>
              <a:rPr lang="en-GB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Kakati</a:t>
            </a:r>
            <a:r>
              <a:rPr lang="en-GB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 Assistant Professor, Department of Electronics and Communication </a:t>
            </a:r>
            <a:r>
              <a:rPr lang="en-GB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Engineering for his morale boosting, meticulous guidance, co-operation and supervision throughout this project work.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We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would like to </a:t>
            </a:r>
            <a:r>
              <a:rPr lang="en-GB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owe our heartiest gratitude to Mrs. </a:t>
            </a:r>
            <a:r>
              <a:rPr lang="en-GB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Pallabi</a:t>
            </a:r>
            <a:r>
              <a:rPr lang="en-GB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1800" dirty="0" err="1">
                <a:latin typeface="Tahoma" panose="020B0604030504040204" pitchFamily="34" charset="0"/>
                <a:cs typeface="Tahoma" panose="020B0604030504040204" pitchFamily="34" charset="0"/>
              </a:rPr>
              <a:t>Kakati</a:t>
            </a:r>
            <a:endParaRPr lang="en-US" altLang="en-US" sz="18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391" name="Content Placeholder 3">
            <a:extLst>
              <a:ext uri="{FF2B5EF4-FFF2-40B4-BE49-F238E27FC236}">
                <a16:creationId xmlns:a16="http://schemas.microsoft.com/office/drawing/2014/main" id="{02F20FAD-5A57-4987-A594-EA78D4BF9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858198EA-8D6A-46AF-BB4E-6A56946CC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801938"/>
            <a:ext cx="607218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6600" b="1">
                <a:latin typeface="Tahoma" panose="020B0604030504040204" pitchFamily="34" charset="0"/>
                <a:cs typeface="Tahoma" panose="020B0604030504040204" pitchFamily="34" charset="0"/>
              </a:rPr>
              <a:t>Thank You !!!</a:t>
            </a:r>
          </a:p>
        </p:txBody>
      </p:sp>
      <p:sp>
        <p:nvSpPr>
          <p:cNvPr id="17411" name="Slide Number Placeholder 2">
            <a:extLst>
              <a:ext uri="{FF2B5EF4-FFF2-40B4-BE49-F238E27FC236}">
                <a16:creationId xmlns:a16="http://schemas.microsoft.com/office/drawing/2014/main" id="{8866FCE0-9A19-4B0B-8C39-7C80C15B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C3E0A0-A539-4967-B00C-D32EF3B4EC58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4DC5F-D856-4010-829C-ECA7177155D6}"/>
              </a:ext>
            </a:extLst>
          </p:cNvPr>
          <p:cNvSpPr/>
          <p:nvPr/>
        </p:nvSpPr>
        <p:spPr>
          <a:xfrm>
            <a:off x="8358188" y="6357938"/>
            <a:ext cx="357187" cy="500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IN"/>
          </a:p>
        </p:txBody>
      </p:sp>
      <p:pic>
        <p:nvPicPr>
          <p:cNvPr id="17413" name="Content Placeholder 3">
            <a:extLst>
              <a:ext uri="{FF2B5EF4-FFF2-40B4-BE49-F238E27FC236}">
                <a16:creationId xmlns:a16="http://schemas.microsoft.com/office/drawing/2014/main" id="{22885B23-1BF9-439F-A504-1E814AA40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57925"/>
            <a:ext cx="2808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2137</TotalTime>
  <Words>1711</Words>
  <Application>Microsoft Office PowerPoint</Application>
  <PresentationFormat>On-screen Show (4:3)</PresentationFormat>
  <Paragraphs>210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Tahoma</vt:lpstr>
      <vt:lpstr>Times New Roman</vt:lpstr>
      <vt:lpstr>Wingdings</vt:lpstr>
      <vt:lpstr>Office Theme</vt:lpstr>
      <vt:lpstr>Final year Capstone Project– 3st Review</vt:lpstr>
      <vt:lpstr>Content</vt:lpstr>
      <vt:lpstr>Objectives</vt:lpstr>
      <vt:lpstr>Proposed Method</vt:lpstr>
      <vt:lpstr>Proposed Method</vt:lpstr>
      <vt:lpstr>Architecture Diagram</vt:lpstr>
      <vt:lpstr>Architecture Diagram</vt:lpstr>
      <vt:lpstr>PowerPoint Presentation</vt:lpstr>
      <vt:lpstr>Algorithm Details</vt:lpstr>
      <vt:lpstr>Source Code Details</vt:lpstr>
      <vt:lpstr>Source Code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details</vt:lpstr>
      <vt:lpstr>Implementation details</vt:lpstr>
      <vt:lpstr>Implementation details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DESSERTATION PRESENTATION ON “Title of The Projrect” BY Name of Candidate Roll No</dc:title>
  <dc:creator>abc</dc:creator>
  <cp:lastModifiedBy>Manukiran s</cp:lastModifiedBy>
  <cp:revision>226</cp:revision>
  <dcterms:created xsi:type="dcterms:W3CDTF">2015-04-22T08:59:15Z</dcterms:created>
  <dcterms:modified xsi:type="dcterms:W3CDTF">2024-12-16T09:39:39Z</dcterms:modified>
</cp:coreProperties>
</file>